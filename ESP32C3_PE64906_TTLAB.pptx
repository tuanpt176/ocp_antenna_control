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68" r:id="rId5"/>
    <p:sldId id="259" r:id="rId6"/>
    <p:sldId id="269" r:id="rId7"/>
    <p:sldId id="271" r:id="rId8"/>
    <p:sldId id="272" r:id="rId9"/>
    <p:sldId id="260" r:id="rId10"/>
    <p:sldId id="270" r:id="rId11"/>
    <p:sldId id="261" r:id="rId12"/>
    <p:sldId id="265" r:id="rId13"/>
  </p:sldIdLst>
  <p:sldSz cx="12192000" cy="6858000"/>
  <p:notesSz cx="6858000" cy="9144000"/>
  <p:embeddedFontLst>
    <p:embeddedFont>
      <p:font typeface="Lexend ExtraBold" panose="020B0604020202020204" charset="0"/>
      <p:bold r:id="rId16"/>
    </p:embeddedFont>
    <p:embeddedFont>
      <p:font typeface="Montserrat" panose="00000500000000000000" pitchFamily="50" charset="0"/>
      <p:regular r:id="rId17"/>
      <p:bold r:id="rId18"/>
      <p:italic r:id="rId19"/>
      <p:boldItalic r:id="rId20"/>
    </p:embeddedFont>
    <p:embeddedFont>
      <p:font typeface="Montserrat ExtraBold" panose="00000900000000000000" pitchFamily="50" charset="0"/>
      <p:bold r:id="rId21"/>
      <p:boldItalic r:id="rId22"/>
    </p:embeddedFont>
    <p:embeddedFont>
      <p:font typeface="Montserrat Medium" panose="00000600000000000000" pitchFamily="50" charset="0"/>
      <p:regular r:id="rId23"/>
      <p:bold r:id="rId24"/>
      <p:italic r:id="rId25"/>
      <p:boldItalic r:id="rId26"/>
    </p:embeddedFont>
    <p:embeddedFont>
      <p:font typeface="Play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QAE1UcaLHtrcucPPtdHcmjtZ4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5" autoAdjust="0"/>
    <p:restoredTop sz="94660"/>
  </p:normalViewPr>
  <p:slideViewPr>
    <p:cSldViewPr snapToGrid="0">
      <p:cViewPr>
        <p:scale>
          <a:sx n="66" d="100"/>
          <a:sy n="66" d="100"/>
        </p:scale>
        <p:origin x="110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565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BC17-84A1-5DD3-2572-92133EF972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C8774-1B54-AA9F-4147-EE0FF84CC7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DCCF5-CFCA-4B1E-A581-9E76BC6925A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314D56-608E-9AA8-1D42-4247A7D8F4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4A087-0912-2AD9-7688-7E0CE2B0CB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AE24A-CC99-4B09-941D-9323C6D0C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408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a08b1f3d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8a08b1f3d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a08b1f3d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8a08b1f3d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C5E44C4-0D7E-489A-98BE-868153213C5E}" type="datetime1">
              <a:rPr lang="en-US" smtClean="0"/>
              <a:t>5/22/2026</a:t>
            </a:fld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5CCEABD-274D-4910-BFA1-0196B57F3B81}" type="datetime1">
              <a:rPr lang="en-US" smtClean="0"/>
              <a:t>5/22/2026</a:t>
            </a:fld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27AADA-CFBA-44A4-8876-1B4391E69543}" type="datetime1">
              <a:rPr lang="en-US" smtClean="0"/>
              <a:t>5/22/2026</a:t>
            </a:fld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9F8F89F-6F36-4035-ABB1-B5DC2A6AFCAA}" type="datetime1">
              <a:rPr lang="en-US" smtClean="0"/>
              <a:t>5/22/2026</a:t>
            </a:fld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5B9B7F6-D399-4ACE-A7EC-DB126AE7F46E}" type="datetime1">
              <a:rPr lang="en-US" smtClean="0"/>
              <a:t>5/22/2026</a:t>
            </a:fld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18A33AE-5A84-4B76-9299-540605F0C735}" type="datetime1">
              <a:rPr lang="en-US" smtClean="0"/>
              <a:t>5/22/2026</a:t>
            </a:fld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E181E92-79D2-4BD2-8EF3-33A1898EFC41}" type="datetime1">
              <a:rPr lang="en-US" smtClean="0"/>
              <a:t>5/22/2026</a:t>
            </a:fld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A6B09E-A2C9-431D-9470-2DECB6936DE6}" type="datetime1">
              <a:rPr lang="en-US" smtClean="0"/>
              <a:t>5/22/2026</a:t>
            </a:fld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6D1666A-C73E-4BC0-82BD-24C70FCD4EC7}" type="datetime1">
              <a:rPr lang="en-US" smtClean="0"/>
              <a:t>5/22/2026</a:t>
            </a:fld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248CF0B-B16F-48C4-8A04-FB8454238561}" type="datetime1">
              <a:rPr lang="en-US" smtClean="0"/>
              <a:t>5/22/2026</a:t>
            </a:fld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 smtClean="0"/>
              <a:pPr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95000"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A black square with white letters and a rainbow colored square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0457" y="1870627"/>
            <a:ext cx="2411087" cy="2411087"/>
          </a:xfrm>
          <a:prstGeom prst="roundRect">
            <a:avLst>
              <a:gd name="adj" fmla="val 9291"/>
            </a:avLst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" name="Google Shape;85;p1"/>
          <p:cNvSpPr txBox="1"/>
          <p:nvPr/>
        </p:nvSpPr>
        <p:spPr>
          <a:xfrm>
            <a:off x="2421255" y="5334000"/>
            <a:ext cx="734949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Faculty of Computer Engineering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University of Information Technology</a:t>
            </a:r>
            <a:endParaRPr dirty="0"/>
          </a:p>
        </p:txBody>
      </p:sp>
      <p:sp>
        <p:nvSpPr>
          <p:cNvPr id="86" name="Google Shape;86;p1"/>
          <p:cNvSpPr/>
          <p:nvPr/>
        </p:nvSpPr>
        <p:spPr>
          <a:xfrm>
            <a:off x="4546600" y="106284"/>
            <a:ext cx="3098800" cy="89643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234690" y="1008575"/>
            <a:ext cx="602742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i="0" u="none" strike="noStrike" cap="none" dirty="0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The Things Lab</a:t>
            </a:r>
            <a:endParaRPr dirty="0"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5016077" y="204897"/>
            <a:ext cx="2159847" cy="699213"/>
            <a:chOff x="1101333" y="2056329"/>
            <a:chExt cx="2824551" cy="914400"/>
          </a:xfrm>
        </p:grpSpPr>
        <p:pic>
          <p:nvPicPr>
            <p:cNvPr id="89" name="Google Shape;89;p1" descr="A green and yellow logo  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006192" y="2056329"/>
              <a:ext cx="919692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" descr="A blue logo with a black background  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101333" y="2056329"/>
              <a:ext cx="115104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AF17D283-B44F-CAE5-1B75-B8651560A8B2}"/>
              </a:ext>
            </a:extLst>
          </p:cNvPr>
          <p:cNvSpPr txBox="1"/>
          <p:nvPr/>
        </p:nvSpPr>
        <p:spPr>
          <a:xfrm>
            <a:off x="2421255" y="4566527"/>
            <a:ext cx="734949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bg1"/>
                </a:solidFill>
                <a:latin typeface="Montserrat ExtraBold" panose="00000900000000000000" pitchFamily="50" charset="0"/>
              </a:rPr>
              <a:t>ESP32-C3 Super Mini + PE64906 DTC</a:t>
            </a:r>
            <a:endParaRPr sz="2600" dirty="0">
              <a:solidFill>
                <a:schemeClr val="bg1"/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A508CD-185F-38C8-343C-527028831FBC}"/>
              </a:ext>
            </a:extLst>
          </p:cNvPr>
          <p:cNvSpPr>
            <a:spLocks noGrp="1"/>
          </p:cNvSpPr>
          <p:nvPr>
            <p:ph type="dt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254EC0-7EAB-489F-9662-086F610D681C}" type="datetime1">
              <a:rPr lang="en-US" smtClean="0"/>
              <a:t>5/22/2026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B3CDD-FB4F-0242-DD6D-CE74092CCA5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869222"/>
            <a:ext cx="12192000" cy="5119556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2479343" y="248726"/>
            <a:ext cx="7233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OUTLINE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696F75-A597-F002-6E87-1C0BED055B20}"/>
              </a:ext>
            </a:extLst>
          </p:cNvPr>
          <p:cNvSpPr txBox="1"/>
          <p:nvPr/>
        </p:nvSpPr>
        <p:spPr>
          <a:xfrm>
            <a:off x="1328058" y="1117603"/>
            <a:ext cx="83555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Setup — Arduino IDE &amp; Board Package</a:t>
            </a: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Hardware Wiring &amp; SPI Configuration</a:t>
            </a: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DC power supply &amp; Ferrite Bead install </a:t>
            </a: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Code Walkthrough — How It Works</a:t>
            </a: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Controlling Capacitance &amp; Flashing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1F9859-2CFC-CF60-8BEA-26E00E55A239}"/>
              </a:ext>
            </a:extLst>
          </p:cNvPr>
          <p:cNvGrpSpPr/>
          <p:nvPr/>
        </p:nvGrpSpPr>
        <p:grpSpPr>
          <a:xfrm>
            <a:off x="9845675" y="122319"/>
            <a:ext cx="2230258" cy="572713"/>
            <a:chOff x="-2502323" y="2725596"/>
            <a:chExt cx="2741857" cy="704088"/>
          </a:xfrm>
        </p:grpSpPr>
        <p:pic>
          <p:nvPicPr>
            <p:cNvPr id="4" name="Google Shape;84;p1" descr="A black square with white letters and a rainbow colored squares  AI-generated content may be incorrect.">
              <a:extLst>
                <a:ext uri="{FF2B5EF4-FFF2-40B4-BE49-F238E27FC236}">
                  <a16:creationId xmlns:a16="http://schemas.microsoft.com/office/drawing/2014/main" id="{19526E20-5D89-AAB3-FC95-AFF323D03B7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464554" y="2725596"/>
              <a:ext cx="704088" cy="704088"/>
            </a:xfrm>
            <a:prstGeom prst="roundRect">
              <a:avLst>
                <a:gd name="adj" fmla="val 9291"/>
              </a:avLst>
            </a:prstGeom>
            <a:noFill/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" name="Google Shape;89;p1" descr="A green and yellow logo  AI-generated content may be incorrect.">
              <a:extLst>
                <a:ext uri="{FF2B5EF4-FFF2-40B4-BE49-F238E27FC236}">
                  <a16:creationId xmlns:a16="http://schemas.microsoft.com/office/drawing/2014/main" id="{E402D635-3DC0-2648-5BE7-791CD5F19FF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94986" y="2728034"/>
              <a:ext cx="703260" cy="69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90;p1" descr="A blue logo with a black background  AI-generated content may be incorrect.">
              <a:extLst>
                <a:ext uri="{FF2B5EF4-FFF2-40B4-BE49-F238E27FC236}">
                  <a16:creationId xmlns:a16="http://schemas.microsoft.com/office/drawing/2014/main" id="{FCD537B2-2A05-6868-0DB0-16C958FE2AF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02323" y="2728034"/>
              <a:ext cx="880165" cy="699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BF8C416-2A44-A28D-CA39-78ADC98AF557}"/>
              </a:ext>
            </a:extLst>
          </p:cNvPr>
          <p:cNvSpPr>
            <a:spLocks noGrp="1"/>
          </p:cNvSpPr>
          <p:nvPr>
            <p:ph type="dt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64B159-DDC5-40F6-846D-514FD90D3E35}" type="datetime1">
              <a:rPr lang="en-US" smtClean="0"/>
              <a:t>5/22/2026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4C4F6-5B7A-5162-9119-D94EF7E4F9D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a08b1f3df_0_10"/>
          <p:cNvSpPr txBox="1"/>
          <p:nvPr/>
        </p:nvSpPr>
        <p:spPr>
          <a:xfrm>
            <a:off x="2515629" y="174791"/>
            <a:ext cx="7233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System Overview</a:t>
            </a:r>
            <a:endParaRPr dirty="0"/>
          </a:p>
        </p:txBody>
      </p:sp>
      <p:cxnSp>
        <p:nvCxnSpPr>
          <p:cNvPr id="114" name="Google Shape;114;g38a08b1f3df_0_10"/>
          <p:cNvCxnSpPr/>
          <p:nvPr/>
        </p:nvCxnSpPr>
        <p:spPr>
          <a:xfrm>
            <a:off x="645886" y="6065777"/>
            <a:ext cx="1097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g38a08b1f3df_0_10"/>
          <p:cNvSpPr txBox="1"/>
          <p:nvPr/>
        </p:nvSpPr>
        <p:spPr>
          <a:xfrm>
            <a:off x="9543143" y="6219371"/>
            <a:ext cx="2075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 err="1">
                <a:solidFill>
                  <a:srgbClr val="A5A5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TTLab</a:t>
            </a:r>
            <a:r>
              <a:rPr lang="en-US" sz="1400" i="1" dirty="0">
                <a:solidFill>
                  <a:srgbClr val="A5A5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/ FCE-UIT</a:t>
            </a:r>
            <a:endParaRPr dirty="0"/>
          </a:p>
        </p:txBody>
      </p:sp>
      <p:sp>
        <p:nvSpPr>
          <p:cNvPr id="7" name="Google Shape;169;p4">
            <a:extLst>
              <a:ext uri="{FF2B5EF4-FFF2-40B4-BE49-F238E27FC236}">
                <a16:creationId xmlns:a16="http://schemas.microsoft.com/office/drawing/2014/main" id="{08656974-4D8F-580D-EDA0-689E9E731029}"/>
              </a:ext>
            </a:extLst>
          </p:cNvPr>
          <p:cNvSpPr txBox="1"/>
          <p:nvPr/>
        </p:nvSpPr>
        <p:spPr>
          <a:xfrm>
            <a:off x="609599" y="752564"/>
            <a:ext cx="7477761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ESP32-C3 Super Mini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RISC-V 160 MHz, 4 MB Flash — USB CDC direct (no FTDI adapter needed)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PE64906 DTC: 5-bit digitally tunable capacitor, range 0.6 to 5.4 pF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Google Shape;169;p4">
            <a:extLst>
              <a:ext uri="{FF2B5EF4-FFF2-40B4-BE49-F238E27FC236}">
                <a16:creationId xmlns:a16="http://schemas.microsoft.com/office/drawing/2014/main" id="{01540621-5D24-8C19-6ACE-A2115D37E430}"/>
              </a:ext>
            </a:extLst>
          </p:cNvPr>
          <p:cNvSpPr txBox="1"/>
          <p:nvPr/>
        </p:nvSpPr>
        <p:spPr>
          <a:xfrm>
            <a:off x="609599" y="3025826"/>
            <a:ext cx="7477761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SPI Communication (3-wire)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CLK = GPIO3 | MOSI = GPIO4 | SEN = GPIO2 (manual chip select)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SPI.begin() can be assigned to any GPIO on ESP32-C3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7DD5DE-3D7A-4CAC-CB82-C23D0FE84446}"/>
              </a:ext>
            </a:extLst>
          </p:cNvPr>
          <p:cNvGrpSpPr/>
          <p:nvPr/>
        </p:nvGrpSpPr>
        <p:grpSpPr>
          <a:xfrm>
            <a:off x="9845675" y="122319"/>
            <a:ext cx="2230258" cy="572713"/>
            <a:chOff x="-2502323" y="2725596"/>
            <a:chExt cx="2741857" cy="704088"/>
          </a:xfrm>
        </p:grpSpPr>
        <p:pic>
          <p:nvPicPr>
            <p:cNvPr id="10" name="Google Shape;84;p1" descr="A black square with white letters and a rainbow colored squares  AI-generated content may be incorrect.">
              <a:extLst>
                <a:ext uri="{FF2B5EF4-FFF2-40B4-BE49-F238E27FC236}">
                  <a16:creationId xmlns:a16="http://schemas.microsoft.com/office/drawing/2014/main" id="{F3F7A8FB-9187-4259-D696-07996F1869B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464554" y="2725596"/>
              <a:ext cx="704088" cy="704088"/>
            </a:xfrm>
            <a:prstGeom prst="roundRect">
              <a:avLst>
                <a:gd name="adj" fmla="val 9291"/>
              </a:avLst>
            </a:prstGeom>
            <a:noFill/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1" name="Google Shape;89;p1" descr="A green and yellow logo  AI-generated content may be incorrect.">
              <a:extLst>
                <a:ext uri="{FF2B5EF4-FFF2-40B4-BE49-F238E27FC236}">
                  <a16:creationId xmlns:a16="http://schemas.microsoft.com/office/drawing/2014/main" id="{D28A04FD-8E41-2F4E-4098-B18B7FA237B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94986" y="2728034"/>
              <a:ext cx="703260" cy="69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90;p1" descr="A blue logo with a black background  AI-generated content may be incorrect.">
              <a:extLst>
                <a:ext uri="{FF2B5EF4-FFF2-40B4-BE49-F238E27FC236}">
                  <a16:creationId xmlns:a16="http://schemas.microsoft.com/office/drawing/2014/main" id="{FE07A380-7FAD-DFFE-7F89-A62BD8162B9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02323" y="2728034"/>
              <a:ext cx="880165" cy="699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EB29DDD-BDC1-4565-77CE-3AA3C9D7554E}"/>
              </a:ext>
            </a:extLst>
          </p:cNvPr>
          <p:cNvSpPr>
            <a:spLocks noGrp="1"/>
          </p:cNvSpPr>
          <p:nvPr>
            <p:ph type="dt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C66195-D25E-466F-BBA7-B8B24C35928D}" type="datetime1">
              <a:rPr lang="en-US" smtClean="0"/>
              <a:t>5/22/2026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53A6E58-49E2-1EC4-0FDD-870FA0F1E35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FF555-3696-42B3-F2FE-30819D533C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7704" b="17037"/>
          <a:stretch>
            <a:fillRect/>
          </a:stretch>
        </p:blipFill>
        <p:spPr>
          <a:xfrm rot="5400000">
            <a:off x="7845960" y="1416299"/>
            <a:ext cx="3805937" cy="2804176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a08b1f3df_0_10"/>
          <p:cNvSpPr txBox="1"/>
          <p:nvPr/>
        </p:nvSpPr>
        <p:spPr>
          <a:xfrm>
            <a:off x="2515629" y="174791"/>
            <a:ext cx="7233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Arduino IDE — Board Setup</a:t>
            </a:r>
            <a:endParaRPr dirty="0"/>
          </a:p>
        </p:txBody>
      </p:sp>
      <p:cxnSp>
        <p:nvCxnSpPr>
          <p:cNvPr id="114" name="Google Shape;114;g38a08b1f3df_0_10"/>
          <p:cNvCxnSpPr/>
          <p:nvPr/>
        </p:nvCxnSpPr>
        <p:spPr>
          <a:xfrm>
            <a:off x="645886" y="6065777"/>
            <a:ext cx="1097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g38a08b1f3df_0_10"/>
          <p:cNvSpPr txBox="1"/>
          <p:nvPr/>
        </p:nvSpPr>
        <p:spPr>
          <a:xfrm>
            <a:off x="9543143" y="6219371"/>
            <a:ext cx="2075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 err="1">
                <a:solidFill>
                  <a:srgbClr val="A5A5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TTLab</a:t>
            </a:r>
            <a:r>
              <a:rPr lang="en-US" sz="1400" i="1" dirty="0">
                <a:solidFill>
                  <a:srgbClr val="A5A5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/ FCE-UIT</a:t>
            </a:r>
            <a:endParaRPr dirty="0"/>
          </a:p>
        </p:txBody>
      </p:sp>
      <p:sp>
        <p:nvSpPr>
          <p:cNvPr id="7" name="Google Shape;169;p4">
            <a:extLst>
              <a:ext uri="{FF2B5EF4-FFF2-40B4-BE49-F238E27FC236}">
                <a16:creationId xmlns:a16="http://schemas.microsoft.com/office/drawing/2014/main" id="{08656974-4D8F-580D-EDA0-689E9E731029}"/>
              </a:ext>
            </a:extLst>
          </p:cNvPr>
          <p:cNvSpPr txBox="1"/>
          <p:nvPr/>
        </p:nvSpPr>
        <p:spPr>
          <a:xfrm>
            <a:off x="182881" y="752563"/>
            <a:ext cx="7696171" cy="3035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Install Board Package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File → Preferences → paste </a:t>
            </a: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Espressif</a:t>
            </a:r>
            <a:r>
              <a:rPr lang="en-US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JSON URL into Additional Boards Manager URLs</a:t>
            </a:r>
          </a:p>
          <a:p>
            <a:pPr marL="114300" lvl="1">
              <a:buClr>
                <a:schemeClr val="dk1"/>
              </a:buClr>
              <a:buSzPts val="1800"/>
            </a:pPr>
            <a:r>
              <a:rPr lang="en-US" i="1" dirty="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https://espressif.github.io/arduino-esp32/package_esp32_dev_index.json</a:t>
            </a:r>
          </a:p>
          <a:p>
            <a:pPr marL="114300" lvl="1">
              <a:buClr>
                <a:schemeClr val="dk1"/>
              </a:buClr>
              <a:buSzPts val="1800"/>
            </a:pPr>
            <a:r>
              <a:rPr lang="en-US" i="1" dirty="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https://espressif.github.io/arduino-esp32/package_esp32_index.json</a:t>
            </a:r>
            <a:endParaRPr i="1" dirty="0">
              <a:solidFill>
                <a:srgbClr val="FF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Tools → Boards Manager → search esp32 → Install (Espressif Systems)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Google Shape;169;p4">
            <a:extLst>
              <a:ext uri="{FF2B5EF4-FFF2-40B4-BE49-F238E27FC236}">
                <a16:creationId xmlns:a16="http://schemas.microsoft.com/office/drawing/2014/main" id="{01540621-5D24-8C19-6ACE-A2115D37E430}"/>
              </a:ext>
            </a:extLst>
          </p:cNvPr>
          <p:cNvSpPr txBox="1"/>
          <p:nvPr/>
        </p:nvSpPr>
        <p:spPr>
          <a:xfrm>
            <a:off x="182881" y="3013708"/>
            <a:ext cx="7384824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Required </a:t>
            </a:r>
            <a:r>
              <a:rPr lang="en-US" sz="1800" b="1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Tool</a:t>
            </a: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Settings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USB CDC On Boot: Enabled | CPU Freq: 160 MHz | Flash Size: 4 MB (QIO)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Partition: Default 4 MB with SPIFFS | JTAG Adapter: Disabled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7DD5DE-3D7A-4CAC-CB82-C23D0FE84446}"/>
              </a:ext>
            </a:extLst>
          </p:cNvPr>
          <p:cNvGrpSpPr/>
          <p:nvPr/>
        </p:nvGrpSpPr>
        <p:grpSpPr>
          <a:xfrm>
            <a:off x="9845675" y="122319"/>
            <a:ext cx="2230258" cy="572713"/>
            <a:chOff x="-2502323" y="2725596"/>
            <a:chExt cx="2741857" cy="704088"/>
          </a:xfrm>
        </p:grpSpPr>
        <p:pic>
          <p:nvPicPr>
            <p:cNvPr id="10" name="Google Shape;84;p1" descr="A black square with white letters and a rainbow colored squares  AI-generated content may be incorrect.">
              <a:extLst>
                <a:ext uri="{FF2B5EF4-FFF2-40B4-BE49-F238E27FC236}">
                  <a16:creationId xmlns:a16="http://schemas.microsoft.com/office/drawing/2014/main" id="{F3F7A8FB-9187-4259-D696-07996F1869B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464554" y="2725596"/>
              <a:ext cx="704088" cy="704088"/>
            </a:xfrm>
            <a:prstGeom prst="roundRect">
              <a:avLst>
                <a:gd name="adj" fmla="val 9291"/>
              </a:avLst>
            </a:prstGeom>
            <a:noFill/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1" name="Google Shape;89;p1" descr="A green and yellow logo  AI-generated content may be incorrect.">
              <a:extLst>
                <a:ext uri="{FF2B5EF4-FFF2-40B4-BE49-F238E27FC236}">
                  <a16:creationId xmlns:a16="http://schemas.microsoft.com/office/drawing/2014/main" id="{D28A04FD-8E41-2F4E-4098-B18B7FA237B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394986" y="2728034"/>
              <a:ext cx="703260" cy="69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90;p1" descr="A blue logo with a black background  AI-generated content may be incorrect.">
              <a:extLst>
                <a:ext uri="{FF2B5EF4-FFF2-40B4-BE49-F238E27FC236}">
                  <a16:creationId xmlns:a16="http://schemas.microsoft.com/office/drawing/2014/main" id="{FE07A380-7FAD-DFFE-7F89-A62BD8162B9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02323" y="2728034"/>
              <a:ext cx="880165" cy="699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EB29DDD-BDC1-4565-77CE-3AA3C9D7554E}"/>
              </a:ext>
            </a:extLst>
          </p:cNvPr>
          <p:cNvSpPr>
            <a:spLocks noGrp="1"/>
          </p:cNvSpPr>
          <p:nvPr>
            <p:ph type="dt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C66195-D25E-466F-BBA7-B8B24C35928D}" type="datetime1">
              <a:rPr lang="en-US" smtClean="0"/>
              <a:t>5/22/2026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53A6E58-49E2-1EC4-0FDD-870FA0F1E35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92F070-A3E1-FB6E-6977-87E063F77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652" y="956293"/>
            <a:ext cx="3886228" cy="20574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D97FB5-275E-2F20-899E-58FE7A84C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4219" y="3052033"/>
            <a:ext cx="3707917" cy="316733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88E90A7-7AEE-1403-DD2B-32F4FF6F1C5E}"/>
              </a:ext>
            </a:extLst>
          </p:cNvPr>
          <p:cNvCxnSpPr/>
          <p:nvPr/>
        </p:nvCxnSpPr>
        <p:spPr>
          <a:xfrm>
            <a:off x="7132320" y="1960880"/>
            <a:ext cx="9753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415941-979A-3547-0104-7E6E92FC9A87}"/>
              </a:ext>
            </a:extLst>
          </p:cNvPr>
          <p:cNvCxnSpPr/>
          <p:nvPr/>
        </p:nvCxnSpPr>
        <p:spPr>
          <a:xfrm>
            <a:off x="7132320" y="4043680"/>
            <a:ext cx="9753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/>
        </p:nvSpPr>
        <p:spPr>
          <a:xfrm>
            <a:off x="2515629" y="174791"/>
            <a:ext cx="7233313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Hardware Wiring — SPI + SEN</a:t>
            </a:r>
            <a:endParaRPr lang="en-US" sz="3200" dirty="0"/>
          </a:p>
        </p:txBody>
      </p:sp>
      <p:cxnSp>
        <p:nvCxnSpPr>
          <p:cNvPr id="131" name="Google Shape;131;p3"/>
          <p:cNvCxnSpPr/>
          <p:nvPr/>
        </p:nvCxnSpPr>
        <p:spPr>
          <a:xfrm>
            <a:off x="645886" y="6065777"/>
            <a:ext cx="1097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3"/>
          <p:cNvSpPr txBox="1"/>
          <p:nvPr/>
        </p:nvSpPr>
        <p:spPr>
          <a:xfrm>
            <a:off x="9543143" y="6219371"/>
            <a:ext cx="20755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A5A5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TTLab  / FCE-UIT</a:t>
            </a:r>
            <a:endParaRPr/>
          </a:p>
        </p:txBody>
      </p:sp>
      <p:sp>
        <p:nvSpPr>
          <p:cNvPr id="2" name="Google Shape;169;p4">
            <a:extLst>
              <a:ext uri="{FF2B5EF4-FFF2-40B4-BE49-F238E27FC236}">
                <a16:creationId xmlns:a16="http://schemas.microsoft.com/office/drawing/2014/main" id="{4B3C96A5-1B55-EA46-222C-DF205680E3D6}"/>
              </a:ext>
            </a:extLst>
          </p:cNvPr>
          <p:cNvSpPr txBox="1"/>
          <p:nvPr/>
        </p:nvSpPr>
        <p:spPr>
          <a:xfrm>
            <a:off x="609600" y="752564"/>
            <a:ext cx="5356433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Pin Mapping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GPIO2 → SEN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GPIO3 → CLK/SCL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GPIO4 → SDA (MOSI)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3.3 V → VDD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GND → GND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MISO = -1 (not connected)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Google Shape;169;p4">
            <a:extLst>
              <a:ext uri="{FF2B5EF4-FFF2-40B4-BE49-F238E27FC236}">
                <a16:creationId xmlns:a16="http://schemas.microsoft.com/office/drawing/2014/main" id="{0563145F-2369-9D47-5C38-CED8E78382F0}"/>
              </a:ext>
            </a:extLst>
          </p:cNvPr>
          <p:cNvSpPr txBox="1"/>
          <p:nvPr/>
        </p:nvSpPr>
        <p:spPr>
          <a:xfrm>
            <a:off x="636029" y="3312636"/>
            <a:ext cx="4941811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SEN Timing (Critical)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SEN LOW → 1 ms → SEN HIGH (open window) → SPI.transfer() → SEN LOW (latch)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SEN is NOT a standard active-low CS — it gates the data acceptance window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0F5834-62CF-1671-3FF4-0ACB776636FD}"/>
              </a:ext>
            </a:extLst>
          </p:cNvPr>
          <p:cNvGrpSpPr/>
          <p:nvPr/>
        </p:nvGrpSpPr>
        <p:grpSpPr>
          <a:xfrm>
            <a:off x="9845675" y="128669"/>
            <a:ext cx="2230258" cy="572713"/>
            <a:chOff x="-2502323" y="2725596"/>
            <a:chExt cx="2741857" cy="704088"/>
          </a:xfrm>
        </p:grpSpPr>
        <p:pic>
          <p:nvPicPr>
            <p:cNvPr id="5" name="Google Shape;84;p1" descr="A black square with white letters and a rainbow colored squares  AI-generated content may be incorrect.">
              <a:extLst>
                <a:ext uri="{FF2B5EF4-FFF2-40B4-BE49-F238E27FC236}">
                  <a16:creationId xmlns:a16="http://schemas.microsoft.com/office/drawing/2014/main" id="{168E737F-F463-BCFF-CA0F-78D82415C86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464554" y="2725596"/>
              <a:ext cx="704088" cy="704088"/>
            </a:xfrm>
            <a:prstGeom prst="roundRect">
              <a:avLst>
                <a:gd name="adj" fmla="val 9291"/>
              </a:avLst>
            </a:prstGeom>
            <a:noFill/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6" name="Google Shape;89;p1" descr="A green and yellow logo  AI-generated content may be incorrect.">
              <a:extLst>
                <a:ext uri="{FF2B5EF4-FFF2-40B4-BE49-F238E27FC236}">
                  <a16:creationId xmlns:a16="http://schemas.microsoft.com/office/drawing/2014/main" id="{EB041155-70EA-8103-FA95-C39BAB19D69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94986" y="2728034"/>
              <a:ext cx="703260" cy="69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90;p1" descr="A blue logo with a black background  AI-generated content may be incorrect.">
              <a:extLst>
                <a:ext uri="{FF2B5EF4-FFF2-40B4-BE49-F238E27FC236}">
                  <a16:creationId xmlns:a16="http://schemas.microsoft.com/office/drawing/2014/main" id="{0EB7E932-9244-7300-4221-C988DB1400B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02323" y="2728034"/>
              <a:ext cx="880165" cy="699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6737AD1-9CAC-80E5-811B-921B3CDB9C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7D35E98-27D0-44CF-AACA-2ADAE087928E}" type="datetime1">
              <a:rPr lang="en-US" smtClean="0"/>
              <a:t>5/22/2026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960E8F-2F11-2C6E-B588-BBF5984FA6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AD6EFE-DDA3-EB9F-D459-3566BCD4D0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6033" y="3639300"/>
            <a:ext cx="5289134" cy="16824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3DB6C1-E421-FD02-2733-5204E0CF56AD}"/>
              </a:ext>
            </a:extLst>
          </p:cNvPr>
          <p:cNvSpPr/>
          <p:nvPr/>
        </p:nvSpPr>
        <p:spPr>
          <a:xfrm>
            <a:off x="6238240" y="1320800"/>
            <a:ext cx="1259840" cy="17942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anose="00000500000000000000" pitchFamily="50" charset="0"/>
              </a:rPr>
              <a:t>ESP32-C3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C7B8A6-9C39-1DDF-E693-D5B50532EF51}"/>
              </a:ext>
            </a:extLst>
          </p:cNvPr>
          <p:cNvSpPr/>
          <p:nvPr/>
        </p:nvSpPr>
        <p:spPr>
          <a:xfrm>
            <a:off x="9700768" y="1286896"/>
            <a:ext cx="1259840" cy="17942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Montserrat" panose="00000500000000000000" pitchFamily="50" charset="0"/>
              </a:rPr>
              <a:t>PE64906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77145E-0451-9156-50A4-CBCB48666BE3}"/>
              </a:ext>
            </a:extLst>
          </p:cNvPr>
          <p:cNvCxnSpPr>
            <a:cxnSpLocks/>
          </p:cNvCxnSpPr>
          <p:nvPr/>
        </p:nvCxnSpPr>
        <p:spPr>
          <a:xfrm>
            <a:off x="7509256" y="1524000"/>
            <a:ext cx="22026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7F92ED-1D09-52B3-2B40-141BCCC5C481}"/>
              </a:ext>
            </a:extLst>
          </p:cNvPr>
          <p:cNvCxnSpPr>
            <a:cxnSpLocks/>
          </p:cNvCxnSpPr>
          <p:nvPr/>
        </p:nvCxnSpPr>
        <p:spPr>
          <a:xfrm>
            <a:off x="7509256" y="1826895"/>
            <a:ext cx="22026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59EB77-F303-7C75-558F-8E9C47D8E879}"/>
              </a:ext>
            </a:extLst>
          </p:cNvPr>
          <p:cNvCxnSpPr>
            <a:cxnSpLocks/>
          </p:cNvCxnSpPr>
          <p:nvPr/>
        </p:nvCxnSpPr>
        <p:spPr>
          <a:xfrm>
            <a:off x="7509256" y="2129790"/>
            <a:ext cx="22026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499D7D-DB6D-A0A4-1E39-FB652F42C1D6}"/>
              </a:ext>
            </a:extLst>
          </p:cNvPr>
          <p:cNvCxnSpPr>
            <a:cxnSpLocks/>
          </p:cNvCxnSpPr>
          <p:nvPr/>
        </p:nvCxnSpPr>
        <p:spPr>
          <a:xfrm>
            <a:off x="7509256" y="2432685"/>
            <a:ext cx="22026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B66D11-3C84-C64E-2231-81501347C7F1}"/>
              </a:ext>
            </a:extLst>
          </p:cNvPr>
          <p:cNvCxnSpPr>
            <a:cxnSpLocks/>
          </p:cNvCxnSpPr>
          <p:nvPr/>
        </p:nvCxnSpPr>
        <p:spPr>
          <a:xfrm>
            <a:off x="7509256" y="2735580"/>
            <a:ext cx="22026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1F8F509-6A5A-46F3-1112-92369F0898B5}"/>
              </a:ext>
            </a:extLst>
          </p:cNvPr>
          <p:cNvSpPr txBox="1"/>
          <p:nvPr/>
        </p:nvSpPr>
        <p:spPr>
          <a:xfrm>
            <a:off x="8834120" y="1280756"/>
            <a:ext cx="873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CB4D30-302A-8EA5-AB9D-1083D2A4BE59}"/>
              </a:ext>
            </a:extLst>
          </p:cNvPr>
          <p:cNvSpPr txBox="1"/>
          <p:nvPr/>
        </p:nvSpPr>
        <p:spPr>
          <a:xfrm>
            <a:off x="8834120" y="2487370"/>
            <a:ext cx="873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GND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089251-9575-1DF8-B81F-59D1834AF3C1}"/>
              </a:ext>
            </a:extLst>
          </p:cNvPr>
          <p:cNvSpPr txBox="1"/>
          <p:nvPr/>
        </p:nvSpPr>
        <p:spPr>
          <a:xfrm>
            <a:off x="8834120" y="2185717"/>
            <a:ext cx="873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VDD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96AD2-16B4-537F-0BC9-343706E2CA80}"/>
              </a:ext>
            </a:extLst>
          </p:cNvPr>
          <p:cNvSpPr txBox="1"/>
          <p:nvPr/>
        </p:nvSpPr>
        <p:spPr>
          <a:xfrm>
            <a:off x="8834120" y="1582409"/>
            <a:ext cx="873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SCL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9CF0C1-EC6B-961D-5046-0D4FF4039850}"/>
              </a:ext>
            </a:extLst>
          </p:cNvPr>
          <p:cNvSpPr txBox="1"/>
          <p:nvPr/>
        </p:nvSpPr>
        <p:spPr>
          <a:xfrm>
            <a:off x="8834120" y="1884063"/>
            <a:ext cx="873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SDA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E03A09-C685-9107-13E1-53E84875DF17}"/>
              </a:ext>
            </a:extLst>
          </p:cNvPr>
          <p:cNvSpPr txBox="1"/>
          <p:nvPr/>
        </p:nvSpPr>
        <p:spPr>
          <a:xfrm>
            <a:off x="7485380" y="1273136"/>
            <a:ext cx="873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F03FA9-D34C-E722-ED27-5CE6945102E5}"/>
              </a:ext>
            </a:extLst>
          </p:cNvPr>
          <p:cNvSpPr txBox="1"/>
          <p:nvPr/>
        </p:nvSpPr>
        <p:spPr>
          <a:xfrm>
            <a:off x="7485380" y="2479750"/>
            <a:ext cx="873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GND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917D56-34AF-96E1-9CE2-08E4B477AC93}"/>
              </a:ext>
            </a:extLst>
          </p:cNvPr>
          <p:cNvSpPr txBox="1"/>
          <p:nvPr/>
        </p:nvSpPr>
        <p:spPr>
          <a:xfrm>
            <a:off x="7485380" y="2178097"/>
            <a:ext cx="873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 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49FCF1-D912-82B5-FE81-50E210075EC2}"/>
              </a:ext>
            </a:extLst>
          </p:cNvPr>
          <p:cNvSpPr txBox="1"/>
          <p:nvPr/>
        </p:nvSpPr>
        <p:spPr>
          <a:xfrm>
            <a:off x="7485380" y="1574789"/>
            <a:ext cx="873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CD1E35-ED3F-74CD-CB02-BEF699785AB9}"/>
              </a:ext>
            </a:extLst>
          </p:cNvPr>
          <p:cNvSpPr txBox="1"/>
          <p:nvPr/>
        </p:nvSpPr>
        <p:spPr>
          <a:xfrm>
            <a:off x="7485380" y="1876443"/>
            <a:ext cx="873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GPIO4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/>
        </p:nvSpPr>
        <p:spPr>
          <a:xfrm>
            <a:off x="2515629" y="174791"/>
            <a:ext cx="7233313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SPI Configuration Explained</a:t>
            </a:r>
            <a:endParaRPr lang="en-US" sz="3200" dirty="0"/>
          </a:p>
        </p:txBody>
      </p:sp>
      <p:cxnSp>
        <p:nvCxnSpPr>
          <p:cNvPr id="131" name="Google Shape;131;p3"/>
          <p:cNvCxnSpPr/>
          <p:nvPr/>
        </p:nvCxnSpPr>
        <p:spPr>
          <a:xfrm>
            <a:off x="645886" y="6065777"/>
            <a:ext cx="1097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3"/>
          <p:cNvSpPr txBox="1"/>
          <p:nvPr/>
        </p:nvSpPr>
        <p:spPr>
          <a:xfrm>
            <a:off x="9543143" y="6219371"/>
            <a:ext cx="20755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A5A5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TTLab  / FCE-UIT</a:t>
            </a:r>
            <a:endParaRPr/>
          </a:p>
        </p:txBody>
      </p:sp>
      <p:sp>
        <p:nvSpPr>
          <p:cNvPr id="2" name="Google Shape;169;p4">
            <a:extLst>
              <a:ext uri="{FF2B5EF4-FFF2-40B4-BE49-F238E27FC236}">
                <a16:creationId xmlns:a16="http://schemas.microsoft.com/office/drawing/2014/main" id="{4B3C96A5-1B55-EA46-222C-DF205680E3D6}"/>
              </a:ext>
            </a:extLst>
          </p:cNvPr>
          <p:cNvSpPr txBox="1"/>
          <p:nvPr/>
        </p:nvSpPr>
        <p:spPr>
          <a:xfrm>
            <a:off x="609600" y="752564"/>
            <a:ext cx="8065200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SPISettings Parameters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 kHz rate: conservative — eliminates ringing and glitch on breadboard wires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MSBFIRST + SPI_MODE0 (CPOL=0, CPHA=0): required by PE64906 datasheet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Google Shape;169;p4">
            <a:extLst>
              <a:ext uri="{FF2B5EF4-FFF2-40B4-BE49-F238E27FC236}">
                <a16:creationId xmlns:a16="http://schemas.microsoft.com/office/drawing/2014/main" id="{0563145F-2369-9D47-5C38-CED8E78382F0}"/>
              </a:ext>
            </a:extLst>
          </p:cNvPr>
          <p:cNvSpPr txBox="1"/>
          <p:nvPr/>
        </p:nvSpPr>
        <p:spPr>
          <a:xfrm>
            <a:off x="609600" y="3025827"/>
            <a:ext cx="8065200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Register Map [0][0][STB][d4..d0]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Bit5 = STB: 0 = active, 1 = standby (low-power); Bits 4-0 = capacitance state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state clamped to 31 (5-bit max); SPI.transfer() sends all 8 bits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0F5834-62CF-1671-3FF4-0ACB776636FD}"/>
              </a:ext>
            </a:extLst>
          </p:cNvPr>
          <p:cNvGrpSpPr/>
          <p:nvPr/>
        </p:nvGrpSpPr>
        <p:grpSpPr>
          <a:xfrm>
            <a:off x="9845675" y="128669"/>
            <a:ext cx="2230258" cy="572713"/>
            <a:chOff x="-2502323" y="2725596"/>
            <a:chExt cx="2741857" cy="704088"/>
          </a:xfrm>
        </p:grpSpPr>
        <p:pic>
          <p:nvPicPr>
            <p:cNvPr id="5" name="Google Shape;84;p1" descr="A black square with white letters and a rainbow colored squares  AI-generated content may be incorrect.">
              <a:extLst>
                <a:ext uri="{FF2B5EF4-FFF2-40B4-BE49-F238E27FC236}">
                  <a16:creationId xmlns:a16="http://schemas.microsoft.com/office/drawing/2014/main" id="{168E737F-F463-BCFF-CA0F-78D82415C86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464554" y="2725596"/>
              <a:ext cx="704088" cy="704088"/>
            </a:xfrm>
            <a:prstGeom prst="roundRect">
              <a:avLst>
                <a:gd name="adj" fmla="val 9291"/>
              </a:avLst>
            </a:prstGeom>
            <a:noFill/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6" name="Google Shape;89;p1" descr="A green and yellow logo  AI-generated content may be incorrect.">
              <a:extLst>
                <a:ext uri="{FF2B5EF4-FFF2-40B4-BE49-F238E27FC236}">
                  <a16:creationId xmlns:a16="http://schemas.microsoft.com/office/drawing/2014/main" id="{EB041155-70EA-8103-FA95-C39BAB19D69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394986" y="2728034"/>
              <a:ext cx="703260" cy="69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90;p1" descr="A blue logo with a black background  AI-generated content may be incorrect.">
              <a:extLst>
                <a:ext uri="{FF2B5EF4-FFF2-40B4-BE49-F238E27FC236}">
                  <a16:creationId xmlns:a16="http://schemas.microsoft.com/office/drawing/2014/main" id="{0EB7E932-9244-7300-4221-C988DB1400B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02323" y="2728034"/>
              <a:ext cx="880165" cy="699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6737AD1-9CAC-80E5-811B-921B3CDB9C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7D35E98-27D0-44CF-AACA-2ADAE087928E}" type="datetime1">
              <a:rPr lang="en-US" smtClean="0"/>
              <a:t>5/22/2026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960E8F-2F11-2C6E-B588-BBF5984FA6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2FF32DA6-7568-C196-1972-0CB0D779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>
            <a:extLst>
              <a:ext uri="{FF2B5EF4-FFF2-40B4-BE49-F238E27FC236}">
                <a16:creationId xmlns:a16="http://schemas.microsoft.com/office/drawing/2014/main" id="{1061BE7D-1A91-1567-1760-D6BCBC45C30A}"/>
              </a:ext>
            </a:extLst>
          </p:cNvPr>
          <p:cNvSpPr txBox="1"/>
          <p:nvPr/>
        </p:nvSpPr>
        <p:spPr>
          <a:xfrm>
            <a:off x="2515629" y="174791"/>
            <a:ext cx="7233313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DC power source</a:t>
            </a:r>
            <a:endParaRPr lang="en-US" sz="3200" dirty="0"/>
          </a:p>
        </p:txBody>
      </p:sp>
      <p:cxnSp>
        <p:nvCxnSpPr>
          <p:cNvPr id="131" name="Google Shape;131;p3">
            <a:extLst>
              <a:ext uri="{FF2B5EF4-FFF2-40B4-BE49-F238E27FC236}">
                <a16:creationId xmlns:a16="http://schemas.microsoft.com/office/drawing/2014/main" id="{FF6FD669-F45E-165D-F72D-45899A2E65BF}"/>
              </a:ext>
            </a:extLst>
          </p:cNvPr>
          <p:cNvCxnSpPr/>
          <p:nvPr/>
        </p:nvCxnSpPr>
        <p:spPr>
          <a:xfrm>
            <a:off x="645886" y="6065777"/>
            <a:ext cx="1097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3">
            <a:extLst>
              <a:ext uri="{FF2B5EF4-FFF2-40B4-BE49-F238E27FC236}">
                <a16:creationId xmlns:a16="http://schemas.microsoft.com/office/drawing/2014/main" id="{3DAF58B8-32F8-625B-2DA8-62DAD70B73D6}"/>
              </a:ext>
            </a:extLst>
          </p:cNvPr>
          <p:cNvSpPr txBox="1"/>
          <p:nvPr/>
        </p:nvSpPr>
        <p:spPr>
          <a:xfrm>
            <a:off x="9543143" y="6219371"/>
            <a:ext cx="20755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A5A5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TTLab  / FCE-UIT</a:t>
            </a: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489C9A-1C18-D200-2B90-2AE19D00ADC8}"/>
              </a:ext>
            </a:extLst>
          </p:cNvPr>
          <p:cNvGrpSpPr/>
          <p:nvPr/>
        </p:nvGrpSpPr>
        <p:grpSpPr>
          <a:xfrm>
            <a:off x="9845675" y="128669"/>
            <a:ext cx="2230258" cy="572713"/>
            <a:chOff x="-2502323" y="2725596"/>
            <a:chExt cx="2741857" cy="704088"/>
          </a:xfrm>
        </p:grpSpPr>
        <p:pic>
          <p:nvPicPr>
            <p:cNvPr id="5" name="Google Shape;84;p1" descr="A black square with white letters and a rainbow colored squares  AI-generated content may be incorrect.">
              <a:extLst>
                <a:ext uri="{FF2B5EF4-FFF2-40B4-BE49-F238E27FC236}">
                  <a16:creationId xmlns:a16="http://schemas.microsoft.com/office/drawing/2014/main" id="{E09EF3D5-1B73-EF5B-EC88-A8E03220AB4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464554" y="2725596"/>
              <a:ext cx="704088" cy="704088"/>
            </a:xfrm>
            <a:prstGeom prst="roundRect">
              <a:avLst>
                <a:gd name="adj" fmla="val 9291"/>
              </a:avLst>
            </a:prstGeom>
            <a:noFill/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6" name="Google Shape;89;p1" descr="A green and yellow logo  AI-generated content may be incorrect.">
              <a:extLst>
                <a:ext uri="{FF2B5EF4-FFF2-40B4-BE49-F238E27FC236}">
                  <a16:creationId xmlns:a16="http://schemas.microsoft.com/office/drawing/2014/main" id="{4FB6308A-2FE5-D4D0-0E96-FC33627D973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394986" y="2728034"/>
              <a:ext cx="703260" cy="69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90;p1" descr="A blue logo with a black background  AI-generated content may be incorrect.">
              <a:extLst>
                <a:ext uri="{FF2B5EF4-FFF2-40B4-BE49-F238E27FC236}">
                  <a16:creationId xmlns:a16="http://schemas.microsoft.com/office/drawing/2014/main" id="{BC28236C-E173-693A-93FB-F5F2389FC17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02323" y="2728034"/>
              <a:ext cx="880165" cy="699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8E5E3D9-3C78-01BD-174D-2326BDC4A0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7D35E98-27D0-44CF-AACA-2ADAE087928E}" type="datetime1">
              <a:rPr lang="en-US" smtClean="0"/>
              <a:t>5/22/2026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A7D19-B072-F882-E87E-B9322A7DB1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B3C85F-A4B0-06EA-A5A0-108AABCD32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074" b="9312"/>
          <a:stretch>
            <a:fillRect/>
          </a:stretch>
        </p:blipFill>
        <p:spPr>
          <a:xfrm rot="5400000">
            <a:off x="2265270" y="1139870"/>
            <a:ext cx="3939705" cy="38143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28A41C-94EC-B9EF-7084-E475662B7A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7704" b="17037"/>
          <a:stretch>
            <a:fillRect/>
          </a:stretch>
        </p:blipFill>
        <p:spPr>
          <a:xfrm rot="5400000">
            <a:off x="5848353" y="1580115"/>
            <a:ext cx="3957629" cy="29159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0CE305-D960-8C1F-91DD-59CEFF8925D0}"/>
              </a:ext>
            </a:extLst>
          </p:cNvPr>
          <p:cNvSpPr txBox="1"/>
          <p:nvPr/>
        </p:nvSpPr>
        <p:spPr>
          <a:xfrm>
            <a:off x="1946946" y="2311224"/>
            <a:ext cx="762000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ontserrat" panose="00000500000000000000" pitchFamily="50" charset="0"/>
              </a:rPr>
              <a:t>GND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B35746-6604-0437-E376-2636A7AC4D09}"/>
              </a:ext>
            </a:extLst>
          </p:cNvPr>
          <p:cNvSpPr txBox="1"/>
          <p:nvPr/>
        </p:nvSpPr>
        <p:spPr>
          <a:xfrm>
            <a:off x="6480557" y="1241740"/>
            <a:ext cx="762000" cy="30777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ontserrat" panose="00000500000000000000" pitchFamily="50" charset="0"/>
              </a:rPr>
              <a:t>GND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71DFF9-A366-74E3-94FD-A16735223AC2}"/>
              </a:ext>
            </a:extLst>
          </p:cNvPr>
          <p:cNvSpPr txBox="1"/>
          <p:nvPr/>
        </p:nvSpPr>
        <p:spPr>
          <a:xfrm>
            <a:off x="2892855" y="2829979"/>
            <a:ext cx="951471" cy="30777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Montserrat" panose="00000500000000000000" pitchFamily="50" charset="0"/>
              </a:rPr>
              <a:t>+3.7-5 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6D798C-B769-3E3C-7140-2EE88EBA31DD}"/>
              </a:ext>
            </a:extLst>
          </p:cNvPr>
          <p:cNvSpPr txBox="1"/>
          <p:nvPr/>
        </p:nvSpPr>
        <p:spPr>
          <a:xfrm>
            <a:off x="7615937" y="1911464"/>
            <a:ext cx="992740" cy="30777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Montserrat" panose="00000500000000000000" pitchFamily="50" charset="0"/>
              </a:rPr>
              <a:t>+3.7-5 V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CE72C8-5A66-2443-131F-F353ADCE90AD}"/>
              </a:ext>
            </a:extLst>
          </p:cNvPr>
          <p:cNvCxnSpPr/>
          <p:nvPr/>
        </p:nvCxnSpPr>
        <p:spPr>
          <a:xfrm>
            <a:off x="2211106" y="2619001"/>
            <a:ext cx="116839" cy="2109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3A9B89-5374-A8BD-A2E6-FAC64906C1A2}"/>
              </a:ext>
            </a:extLst>
          </p:cNvPr>
          <p:cNvCxnSpPr>
            <a:cxnSpLocks/>
          </p:cNvCxnSpPr>
          <p:nvPr/>
        </p:nvCxnSpPr>
        <p:spPr>
          <a:xfrm>
            <a:off x="6996177" y="1549517"/>
            <a:ext cx="190500" cy="1824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4DE4E4-A188-552A-3A14-38E2A89E38E2}"/>
              </a:ext>
            </a:extLst>
          </p:cNvPr>
          <p:cNvCxnSpPr>
            <a:cxnSpLocks/>
          </p:cNvCxnSpPr>
          <p:nvPr/>
        </p:nvCxnSpPr>
        <p:spPr>
          <a:xfrm>
            <a:off x="3567466" y="3163504"/>
            <a:ext cx="198120" cy="1609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D8AADB6-C890-9207-5651-0B817D035245}"/>
              </a:ext>
            </a:extLst>
          </p:cNvPr>
          <p:cNvCxnSpPr>
            <a:cxnSpLocks/>
          </p:cNvCxnSpPr>
          <p:nvPr/>
        </p:nvCxnSpPr>
        <p:spPr>
          <a:xfrm flipH="1" flipV="1">
            <a:off x="7361937" y="2190986"/>
            <a:ext cx="254000" cy="2185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296542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1B0EBF22-CD0A-5D59-F36E-31997B8D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>
            <a:extLst>
              <a:ext uri="{FF2B5EF4-FFF2-40B4-BE49-F238E27FC236}">
                <a16:creationId xmlns:a16="http://schemas.microsoft.com/office/drawing/2014/main" id="{F094CBF1-F118-EEEE-E4A1-BEE8AC2EDF89}"/>
              </a:ext>
            </a:extLst>
          </p:cNvPr>
          <p:cNvSpPr txBox="1"/>
          <p:nvPr/>
        </p:nvSpPr>
        <p:spPr>
          <a:xfrm>
            <a:off x="2515629" y="174791"/>
            <a:ext cx="7233313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dk1"/>
                </a:solidFill>
                <a:latin typeface="Montserrat"/>
                <a:sym typeface="Montserrat"/>
              </a:rPr>
              <a:t>Install Ferrite Bead</a:t>
            </a:r>
            <a:endParaRPr lang="en-US" sz="3200" dirty="0"/>
          </a:p>
        </p:txBody>
      </p:sp>
      <p:cxnSp>
        <p:nvCxnSpPr>
          <p:cNvPr id="131" name="Google Shape;131;p3">
            <a:extLst>
              <a:ext uri="{FF2B5EF4-FFF2-40B4-BE49-F238E27FC236}">
                <a16:creationId xmlns:a16="http://schemas.microsoft.com/office/drawing/2014/main" id="{9BC6D882-D36F-4D60-CB3C-5BEF84EA3D4F}"/>
              </a:ext>
            </a:extLst>
          </p:cNvPr>
          <p:cNvCxnSpPr/>
          <p:nvPr/>
        </p:nvCxnSpPr>
        <p:spPr>
          <a:xfrm>
            <a:off x="645886" y="6065777"/>
            <a:ext cx="1097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3">
            <a:extLst>
              <a:ext uri="{FF2B5EF4-FFF2-40B4-BE49-F238E27FC236}">
                <a16:creationId xmlns:a16="http://schemas.microsoft.com/office/drawing/2014/main" id="{0B86DA96-10AA-B64B-8916-A2236634A462}"/>
              </a:ext>
            </a:extLst>
          </p:cNvPr>
          <p:cNvSpPr txBox="1"/>
          <p:nvPr/>
        </p:nvSpPr>
        <p:spPr>
          <a:xfrm>
            <a:off x="9543143" y="6219371"/>
            <a:ext cx="20755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A5A5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TTLab  / FCE-UIT</a:t>
            </a: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FA83564-D046-5480-8169-300C98867664}"/>
              </a:ext>
            </a:extLst>
          </p:cNvPr>
          <p:cNvGrpSpPr/>
          <p:nvPr/>
        </p:nvGrpSpPr>
        <p:grpSpPr>
          <a:xfrm>
            <a:off x="9845675" y="128669"/>
            <a:ext cx="2230258" cy="572713"/>
            <a:chOff x="-2502323" y="2725596"/>
            <a:chExt cx="2741857" cy="704088"/>
          </a:xfrm>
        </p:grpSpPr>
        <p:pic>
          <p:nvPicPr>
            <p:cNvPr id="5" name="Google Shape;84;p1" descr="A black square with white letters and a rainbow colored squares  AI-generated content may be incorrect.">
              <a:extLst>
                <a:ext uri="{FF2B5EF4-FFF2-40B4-BE49-F238E27FC236}">
                  <a16:creationId xmlns:a16="http://schemas.microsoft.com/office/drawing/2014/main" id="{C8283BFD-3E09-1D15-6753-6ADA16305A9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464554" y="2725596"/>
              <a:ext cx="704088" cy="704088"/>
            </a:xfrm>
            <a:prstGeom prst="roundRect">
              <a:avLst>
                <a:gd name="adj" fmla="val 9291"/>
              </a:avLst>
            </a:prstGeom>
            <a:noFill/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6" name="Google Shape;89;p1" descr="A green and yellow logo  AI-generated content may be incorrect.">
              <a:extLst>
                <a:ext uri="{FF2B5EF4-FFF2-40B4-BE49-F238E27FC236}">
                  <a16:creationId xmlns:a16="http://schemas.microsoft.com/office/drawing/2014/main" id="{D7D45469-C627-E817-DD8E-7CAADA30AF8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394986" y="2728034"/>
              <a:ext cx="703260" cy="69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90;p1" descr="A blue logo with a black background  AI-generated content may be incorrect.">
              <a:extLst>
                <a:ext uri="{FF2B5EF4-FFF2-40B4-BE49-F238E27FC236}">
                  <a16:creationId xmlns:a16="http://schemas.microsoft.com/office/drawing/2014/main" id="{B9813AC1-0C49-951B-ECB5-B1F20134265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02323" y="2728034"/>
              <a:ext cx="880165" cy="699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9B85943-90F1-A855-8219-BCC978140C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7D35E98-27D0-44CF-AACA-2ADAE087928E}" type="datetime1">
              <a:rPr lang="en-US" smtClean="0"/>
              <a:t>5/22/2026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217E08-0D9A-06F2-A070-AA2D21B05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BC02296-70CB-F736-2692-57DC85ACD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2936" y="836379"/>
            <a:ext cx="3365478" cy="44873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0A20E3-492E-AD41-A39C-043D832D4F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502" t="43432" r="35594" b="37159"/>
          <a:stretch>
            <a:fillRect/>
          </a:stretch>
        </p:blipFill>
        <p:spPr>
          <a:xfrm>
            <a:off x="774539" y="2465231"/>
            <a:ext cx="1435261" cy="13310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AD02122-B4E7-4643-4BE0-158BF2D6CEC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422" r="15021" b="30719"/>
          <a:stretch>
            <a:fillRect/>
          </a:stretch>
        </p:blipFill>
        <p:spPr>
          <a:xfrm>
            <a:off x="2920255" y="1763592"/>
            <a:ext cx="3886848" cy="3128443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6071B4-D1AC-86FE-13C0-45A0D5710C36}"/>
              </a:ext>
            </a:extLst>
          </p:cNvPr>
          <p:cNvCxnSpPr/>
          <p:nvPr/>
        </p:nvCxnSpPr>
        <p:spPr>
          <a:xfrm>
            <a:off x="1840375" y="3130775"/>
            <a:ext cx="2500131" cy="5152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6B05E56-FB17-8A82-36DE-42E42F9FFC71}"/>
              </a:ext>
            </a:extLst>
          </p:cNvPr>
          <p:cNvSpPr txBox="1"/>
          <p:nvPr/>
        </p:nvSpPr>
        <p:spPr>
          <a:xfrm>
            <a:off x="8391646" y="5370651"/>
            <a:ext cx="3111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Montserrat" panose="00000500000000000000" pitchFamily="50" charset="0"/>
              </a:rPr>
              <a:t>Final installation</a:t>
            </a:r>
          </a:p>
        </p:txBody>
      </p:sp>
    </p:spTree>
    <p:extLst>
      <p:ext uri="{BB962C8B-B14F-4D97-AF65-F5344CB8AC3E}">
        <p14:creationId xmlns:p14="http://schemas.microsoft.com/office/powerpoint/2010/main" val="2155088799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a08b1f3df_0_38"/>
          <p:cNvSpPr txBox="1"/>
          <p:nvPr/>
        </p:nvSpPr>
        <p:spPr>
          <a:xfrm>
            <a:off x="2515629" y="174791"/>
            <a:ext cx="72333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Fixed Capacitance State</a:t>
            </a:r>
            <a:endParaRPr lang="en-US" sz="3200" dirty="0"/>
          </a:p>
        </p:txBody>
      </p:sp>
      <p:cxnSp>
        <p:nvCxnSpPr>
          <p:cNvPr id="151" name="Google Shape;151;g38a08b1f3df_0_38"/>
          <p:cNvCxnSpPr/>
          <p:nvPr/>
        </p:nvCxnSpPr>
        <p:spPr>
          <a:xfrm>
            <a:off x="645886" y="6065777"/>
            <a:ext cx="1097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4" name="Google Shape;154;g38a08b1f3df_0_38"/>
          <p:cNvSpPr txBox="1"/>
          <p:nvPr/>
        </p:nvSpPr>
        <p:spPr>
          <a:xfrm>
            <a:off x="9543143" y="6219371"/>
            <a:ext cx="2075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A5A5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TTLab  / FCE-UIT</a:t>
            </a:r>
            <a:endParaRPr/>
          </a:p>
        </p:txBody>
      </p:sp>
      <p:sp>
        <p:nvSpPr>
          <p:cNvPr id="2" name="Google Shape;169;p4">
            <a:extLst>
              <a:ext uri="{FF2B5EF4-FFF2-40B4-BE49-F238E27FC236}">
                <a16:creationId xmlns:a16="http://schemas.microsoft.com/office/drawing/2014/main" id="{D2811408-6B33-4B59-272A-1D23C7A57DE7}"/>
              </a:ext>
            </a:extLst>
          </p:cNvPr>
          <p:cNvSpPr txBox="1"/>
          <p:nvPr/>
        </p:nvSpPr>
        <p:spPr>
          <a:xfrm>
            <a:off x="609600" y="752564"/>
            <a:ext cx="6614160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Setting a Single Fixed Value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Call setCapacitance(N) in setup() and leave loop() empty to hold the state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 = 0 to 31 maps approximately 0.6 pF (state 0) to 5.4 pF (state 31)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Google Shape;169;p4">
            <a:extLst>
              <a:ext uri="{FF2B5EF4-FFF2-40B4-BE49-F238E27FC236}">
                <a16:creationId xmlns:a16="http://schemas.microsoft.com/office/drawing/2014/main" id="{C62386AC-7AA9-AA77-938C-707CB312F834}"/>
              </a:ext>
            </a:extLst>
          </p:cNvPr>
          <p:cNvSpPr txBox="1"/>
          <p:nvPr/>
        </p:nvSpPr>
        <p:spPr>
          <a:xfrm>
            <a:off x="609600" y="3025827"/>
            <a:ext cx="6614160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Standby Mode and Memory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Standby: send (state | 0x20) to assert STB=1 — reduces power consumption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NVRAM: PE64906 loses state on power-off — always re-initialize in setup()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B47F24-3357-6744-3A04-316AB677BA10}"/>
              </a:ext>
            </a:extLst>
          </p:cNvPr>
          <p:cNvGrpSpPr/>
          <p:nvPr/>
        </p:nvGrpSpPr>
        <p:grpSpPr>
          <a:xfrm>
            <a:off x="9845675" y="122319"/>
            <a:ext cx="2230258" cy="572713"/>
            <a:chOff x="-2502323" y="2725596"/>
            <a:chExt cx="2741857" cy="704088"/>
          </a:xfrm>
        </p:grpSpPr>
        <p:pic>
          <p:nvPicPr>
            <p:cNvPr id="5" name="Google Shape;84;p1" descr="A black square with white letters and a rainbow colored squares  AI-generated content may be incorrect.">
              <a:extLst>
                <a:ext uri="{FF2B5EF4-FFF2-40B4-BE49-F238E27FC236}">
                  <a16:creationId xmlns:a16="http://schemas.microsoft.com/office/drawing/2014/main" id="{CCAE8CBC-2174-18E9-3614-0A8373CD5E3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464554" y="2725596"/>
              <a:ext cx="704088" cy="704088"/>
            </a:xfrm>
            <a:prstGeom prst="roundRect">
              <a:avLst>
                <a:gd name="adj" fmla="val 9291"/>
              </a:avLst>
            </a:prstGeom>
            <a:noFill/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6" name="Google Shape;89;p1" descr="A green and yellow logo  AI-generated content may be incorrect.">
              <a:extLst>
                <a:ext uri="{FF2B5EF4-FFF2-40B4-BE49-F238E27FC236}">
                  <a16:creationId xmlns:a16="http://schemas.microsoft.com/office/drawing/2014/main" id="{0439606A-82FC-0A09-D6EF-8CA6C7A04F71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94986" y="2728034"/>
              <a:ext cx="703260" cy="69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90;p1" descr="A blue logo with a black background  AI-generated content may be incorrect.">
              <a:extLst>
                <a:ext uri="{FF2B5EF4-FFF2-40B4-BE49-F238E27FC236}">
                  <a16:creationId xmlns:a16="http://schemas.microsoft.com/office/drawing/2014/main" id="{1D45AD0B-E8D8-D65B-9D3F-9B71968B9CB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02323" y="2728034"/>
              <a:ext cx="880165" cy="699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085780A-C3E0-EC53-9249-E6B04C6833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30E478-7AF6-495A-883B-2ABED8B527F8}" type="datetime1">
              <a:rPr lang="en-US" smtClean="0"/>
              <a:t>5/22/2026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F8D3CF-D3B8-7EA2-D9C8-988357F93D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052188-D102-9247-A9F9-CFE9F2E034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146761"/>
            <a:ext cx="4869828" cy="3621154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a08b1f3df_0_38"/>
          <p:cNvSpPr txBox="1"/>
          <p:nvPr/>
        </p:nvSpPr>
        <p:spPr>
          <a:xfrm>
            <a:off x="2515629" y="174791"/>
            <a:ext cx="72333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Sweep Loop — All 32 States</a:t>
            </a:r>
            <a:endParaRPr lang="en-US" sz="3200" dirty="0"/>
          </a:p>
        </p:txBody>
      </p:sp>
      <p:cxnSp>
        <p:nvCxnSpPr>
          <p:cNvPr id="151" name="Google Shape;151;g38a08b1f3df_0_38"/>
          <p:cNvCxnSpPr/>
          <p:nvPr/>
        </p:nvCxnSpPr>
        <p:spPr>
          <a:xfrm>
            <a:off x="645886" y="6065777"/>
            <a:ext cx="1097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4" name="Google Shape;154;g38a08b1f3df_0_38"/>
          <p:cNvSpPr txBox="1"/>
          <p:nvPr/>
        </p:nvSpPr>
        <p:spPr>
          <a:xfrm>
            <a:off x="9543143" y="6219371"/>
            <a:ext cx="2075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A5A5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TTLab  / FCE-UIT</a:t>
            </a:r>
            <a:endParaRPr/>
          </a:p>
        </p:txBody>
      </p:sp>
      <p:sp>
        <p:nvSpPr>
          <p:cNvPr id="2" name="Google Shape;169;p4">
            <a:extLst>
              <a:ext uri="{FF2B5EF4-FFF2-40B4-BE49-F238E27FC236}">
                <a16:creationId xmlns:a16="http://schemas.microsoft.com/office/drawing/2014/main" id="{D2811408-6B33-4B59-272A-1D23C7A57DE7}"/>
              </a:ext>
            </a:extLst>
          </p:cNvPr>
          <p:cNvSpPr txBox="1"/>
          <p:nvPr/>
        </p:nvSpPr>
        <p:spPr>
          <a:xfrm>
            <a:off x="609600" y="752564"/>
            <a:ext cx="6797040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Basic Sweep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 (int i = 0; i &lt; 32; i++) iterates through all 32 capacitance steps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delay(5000) per step for manual observation; use 200 ms for auto-measurement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Google Shape;169;p4">
            <a:extLst>
              <a:ext uri="{FF2B5EF4-FFF2-40B4-BE49-F238E27FC236}">
                <a16:creationId xmlns:a16="http://schemas.microsoft.com/office/drawing/2014/main" id="{C62386AC-7AA9-AA77-938C-707CB312F834}"/>
              </a:ext>
            </a:extLst>
          </p:cNvPr>
          <p:cNvSpPr txBox="1"/>
          <p:nvPr/>
        </p:nvSpPr>
        <p:spPr>
          <a:xfrm>
            <a:off x="609600" y="3025827"/>
            <a:ext cx="6797040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Bi-directional Sweep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Loop up 0 to 31, then loop down 31 to 0 for a continuous triangular scan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Arduino re-calls loop() after the for-loop ends — sweep repeats indefinitely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B47F24-3357-6744-3A04-316AB677BA10}"/>
              </a:ext>
            </a:extLst>
          </p:cNvPr>
          <p:cNvGrpSpPr/>
          <p:nvPr/>
        </p:nvGrpSpPr>
        <p:grpSpPr>
          <a:xfrm>
            <a:off x="9845675" y="122319"/>
            <a:ext cx="2230258" cy="572713"/>
            <a:chOff x="-2502323" y="2725596"/>
            <a:chExt cx="2741857" cy="704088"/>
          </a:xfrm>
        </p:grpSpPr>
        <p:pic>
          <p:nvPicPr>
            <p:cNvPr id="5" name="Google Shape;84;p1" descr="A black square with white letters and a rainbow colored squares  AI-generated content may be incorrect.">
              <a:extLst>
                <a:ext uri="{FF2B5EF4-FFF2-40B4-BE49-F238E27FC236}">
                  <a16:creationId xmlns:a16="http://schemas.microsoft.com/office/drawing/2014/main" id="{CCAE8CBC-2174-18E9-3614-0A8373CD5E3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464554" y="2725596"/>
              <a:ext cx="704088" cy="704088"/>
            </a:xfrm>
            <a:prstGeom prst="roundRect">
              <a:avLst>
                <a:gd name="adj" fmla="val 9291"/>
              </a:avLst>
            </a:prstGeom>
            <a:noFill/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6" name="Google Shape;89;p1" descr="A green and yellow logo  AI-generated content may be incorrect.">
              <a:extLst>
                <a:ext uri="{FF2B5EF4-FFF2-40B4-BE49-F238E27FC236}">
                  <a16:creationId xmlns:a16="http://schemas.microsoft.com/office/drawing/2014/main" id="{0439606A-82FC-0A09-D6EF-8CA6C7A04F7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394986" y="2728034"/>
              <a:ext cx="703260" cy="69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90;p1" descr="A blue logo with a black background  AI-generated content may be incorrect.">
              <a:extLst>
                <a:ext uri="{FF2B5EF4-FFF2-40B4-BE49-F238E27FC236}">
                  <a16:creationId xmlns:a16="http://schemas.microsoft.com/office/drawing/2014/main" id="{1D45AD0B-E8D8-D65B-9D3F-9B71968B9CB1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02323" y="2728034"/>
              <a:ext cx="880165" cy="699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085780A-C3E0-EC53-9249-E6B04C6833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30E478-7AF6-495A-883B-2ABED8B527F8}" type="datetime1">
              <a:rPr lang="en-US" smtClean="0"/>
              <a:t>5/22/2026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F8D3CF-D3B8-7EA2-D9C8-988357F93D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6CD4C5-9C7F-8334-34E3-42EB30F5D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958" y="1562673"/>
            <a:ext cx="4191585" cy="2705478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4"/>
          <p:cNvCxnSpPr/>
          <p:nvPr/>
        </p:nvCxnSpPr>
        <p:spPr>
          <a:xfrm>
            <a:off x="609600" y="6065777"/>
            <a:ext cx="1097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4"/>
          <p:cNvSpPr txBox="1"/>
          <p:nvPr/>
        </p:nvSpPr>
        <p:spPr>
          <a:xfrm>
            <a:off x="2479343" y="174791"/>
            <a:ext cx="7233313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Flashing and Troubleshooting</a:t>
            </a:r>
            <a:endParaRPr lang="en-US" sz="3200" dirty="0"/>
          </a:p>
        </p:txBody>
      </p:sp>
      <p:sp>
        <p:nvSpPr>
          <p:cNvPr id="169" name="Google Shape;169;p4"/>
          <p:cNvSpPr txBox="1"/>
          <p:nvPr/>
        </p:nvSpPr>
        <p:spPr>
          <a:xfrm>
            <a:off x="609600" y="606549"/>
            <a:ext cx="7091680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Upload Steps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Plug USB-C → select COM port → Verify → Upload → open Serial Monitor (115200)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upload fails: hold BOOT, press RST, release BOOT, then click Upload again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9543143" y="6219371"/>
            <a:ext cx="20755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A5A5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TTLab  / FCE-UIT</a:t>
            </a:r>
            <a:endParaRPr/>
          </a:p>
        </p:txBody>
      </p:sp>
      <p:sp>
        <p:nvSpPr>
          <p:cNvPr id="2" name="Google Shape;169;p4">
            <a:extLst>
              <a:ext uri="{FF2B5EF4-FFF2-40B4-BE49-F238E27FC236}">
                <a16:creationId xmlns:a16="http://schemas.microsoft.com/office/drawing/2014/main" id="{53AF57FF-BB2E-1325-87C8-B627DD6F7D01}"/>
              </a:ext>
            </a:extLst>
          </p:cNvPr>
          <p:cNvSpPr txBox="1"/>
          <p:nvPr/>
        </p:nvSpPr>
        <p:spPr>
          <a:xfrm>
            <a:off x="609600" y="3219120"/>
            <a:ext cx="7091680" cy="22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211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Common Issues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COM port: install CH340 driver, or verify USB cable supports data (not charge-only)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●"/>
            </a:pPr>
            <a:r>
              <a:rPr lang="en-US" sz="18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Serial Monitor silent: Tools → USB CDC On Boot → Enabled, then re-flash</a:t>
            </a:r>
            <a:endParaRPr sz="18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D92195-96E6-2BF0-67A6-9901A0724E01}"/>
              </a:ext>
            </a:extLst>
          </p:cNvPr>
          <p:cNvGrpSpPr/>
          <p:nvPr/>
        </p:nvGrpSpPr>
        <p:grpSpPr>
          <a:xfrm>
            <a:off x="9845675" y="122319"/>
            <a:ext cx="2230258" cy="572713"/>
            <a:chOff x="-2502323" y="2725596"/>
            <a:chExt cx="2741857" cy="704088"/>
          </a:xfrm>
        </p:grpSpPr>
        <p:pic>
          <p:nvPicPr>
            <p:cNvPr id="4" name="Google Shape;84;p1" descr="A black square with white letters and a rainbow colored squares  AI-generated content may be incorrect.">
              <a:extLst>
                <a:ext uri="{FF2B5EF4-FFF2-40B4-BE49-F238E27FC236}">
                  <a16:creationId xmlns:a16="http://schemas.microsoft.com/office/drawing/2014/main" id="{827B3CA0-312D-CADB-74F2-37376656B6F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464554" y="2725596"/>
              <a:ext cx="704088" cy="704088"/>
            </a:xfrm>
            <a:prstGeom prst="roundRect">
              <a:avLst>
                <a:gd name="adj" fmla="val 9291"/>
              </a:avLst>
            </a:prstGeom>
            <a:noFill/>
            <a:ln w="19050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" name="Google Shape;89;p1" descr="A green and yellow logo  AI-generated content may be incorrect.">
              <a:extLst>
                <a:ext uri="{FF2B5EF4-FFF2-40B4-BE49-F238E27FC236}">
                  <a16:creationId xmlns:a16="http://schemas.microsoft.com/office/drawing/2014/main" id="{E3988574-7431-5157-ACF9-53DD8CB4077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394986" y="2728034"/>
              <a:ext cx="703260" cy="69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90;p1" descr="A blue logo with a black background  AI-generated content may be incorrect.">
              <a:extLst>
                <a:ext uri="{FF2B5EF4-FFF2-40B4-BE49-F238E27FC236}">
                  <a16:creationId xmlns:a16="http://schemas.microsoft.com/office/drawing/2014/main" id="{53A9ABB3-DD66-F0A1-D871-ECFA1BF785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502323" y="2728034"/>
              <a:ext cx="880165" cy="699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AF731-307E-D726-6EBF-0852F503187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468DF0-1D8D-42F9-BA78-3B540F57AB58}" type="datetime1">
              <a:rPr lang="en-US" smtClean="0"/>
              <a:t>5/22/2026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C1D1670-5DC7-321C-1BCA-C2AB942002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72E64-C152-5317-13BB-51502B50A4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7704" b="17037"/>
          <a:stretch>
            <a:fillRect/>
          </a:stretch>
        </p:blipFill>
        <p:spPr>
          <a:xfrm rot="5400000">
            <a:off x="8352791" y="1755491"/>
            <a:ext cx="3957629" cy="291594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4F5785-8676-FFE6-655F-951251DBFBDE}"/>
              </a:ext>
            </a:extLst>
          </p:cNvPr>
          <p:cNvCxnSpPr/>
          <p:nvPr/>
        </p:nvCxnSpPr>
        <p:spPr>
          <a:xfrm>
            <a:off x="8498536" y="3296920"/>
            <a:ext cx="14478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97B7B4-23AF-3B9A-F094-14F82D86A24E}"/>
              </a:ext>
            </a:extLst>
          </p:cNvPr>
          <p:cNvSpPr txBox="1"/>
          <p:nvPr/>
        </p:nvSpPr>
        <p:spPr>
          <a:xfrm>
            <a:off x="7547065" y="2997605"/>
            <a:ext cx="951471" cy="5232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Montserrat" panose="00000500000000000000" pitchFamily="50" charset="0"/>
              </a:rPr>
              <a:t>USB Type-C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9028" y="-355714"/>
            <a:ext cx="12250057" cy="7743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8" descr="A black square with white letters and a rainbow colored square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1375" y="2034375"/>
            <a:ext cx="2789251" cy="2789251"/>
          </a:xfrm>
          <a:prstGeom prst="roundRect">
            <a:avLst>
              <a:gd name="adj" fmla="val 8585"/>
            </a:avLst>
          </a:prstGeom>
          <a:noFill/>
          <a:ln>
            <a:noFill/>
          </a:ln>
        </p:spPr>
      </p:pic>
      <p:sp>
        <p:nvSpPr>
          <p:cNvPr id="235" name="Google Shape;235;p8"/>
          <p:cNvSpPr txBox="1"/>
          <p:nvPr/>
        </p:nvSpPr>
        <p:spPr>
          <a:xfrm>
            <a:off x="2892188" y="5011013"/>
            <a:ext cx="640762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</a:t>
            </a:r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13A53-A57A-B505-7B4D-40DEF16E3A3E}"/>
              </a:ext>
            </a:extLst>
          </p:cNvPr>
          <p:cNvSpPr>
            <a:spLocks noGrp="1"/>
          </p:cNvSpPr>
          <p:nvPr>
            <p:ph type="dt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97423D-393C-4408-A379-DE6194C0F12B}" type="datetime1">
              <a:rPr lang="en-US" smtClean="0"/>
              <a:t>5/22/2026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6680CB-9815-680B-6518-463C919420D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695</Words>
  <Application>Microsoft Office PowerPoint</Application>
  <PresentationFormat>Widescreen</PresentationFormat>
  <Paragraphs>119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Lexend ExtraBold</vt:lpstr>
      <vt:lpstr>Montserrat ExtraBold</vt:lpstr>
      <vt:lpstr>Play</vt:lpstr>
      <vt:lpstr>Montserrat</vt:lpstr>
      <vt:lpstr>Arial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Phan Thanh Tuấn</dc:creator>
  <cp:lastModifiedBy>Phan Thanh Tuấn</cp:lastModifiedBy>
  <cp:revision>8</cp:revision>
  <dcterms:created xsi:type="dcterms:W3CDTF">2025-10-06T08:41:16Z</dcterms:created>
  <dcterms:modified xsi:type="dcterms:W3CDTF">2026-05-22T02:38:29Z</dcterms:modified>
</cp:coreProperties>
</file>